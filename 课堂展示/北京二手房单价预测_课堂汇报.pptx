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讲稿第 1 页：研究目标是预测 2017 年北京二手房成交单价，数据 43,213 条，比较三种回归模型。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讲稿第 2 页：原始 318,851 条，只保留 2017 年 43,217 条，再剔除 4 条明显错误。目标为单价，16 项特征；总价、小区均价不入模。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讲稿第 3 页：中位数 62,332 元每平米，四分位区间 48,997 到 80,788。高价尾部需要后续误差分析。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讲稿第 4 页：西城中位数 106,015，房山 38,468，比值 2.76。区县的组间方差解释率 62.7%，不能解释为因果。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讲稿第 5 页：同样的 16 项输入先按数值和类别分开预处理。填补、标准化、One-hot 编码都在 Pipeline 内，交叉验证每折仅用训练折拟合。训练集 34,570，测试集 8,643。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讲稿第 6 页：线性回归是加权求和；KNN 使用处理后的特征距离找 5 套近邻并取单价均值；决策树按条件切分，叶节点输出房源均价。三者使用相同输入与数据划分。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讲稿第 7 页：决策树 CV R² 0.711、测试 R² 0.720、MAE 9,462。线性回归测试 R² 0.688、MAE 10,253；KNN 测试 R² 0.608。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讲稿第 8 页：最高单价四分位 MAE 14,502，最低为 7,490，高价组平均低估 8,020。整体 R² 不能代表所有价格段。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讲稿第 9 页：现场打开 现场演示.py 启动的本机网页。选择朝阳、西城、房山三个固定测试样本，再把房山区县改成朝阳并计算。网页通过 API 调用模型；修改后没有真实成交价。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讲稿第 10 页：三种模型中决策树最佳，测试 R² 0.720、MAE 9,462。但数据仅 2017，高价房误差较大，随机划分可能偏乐观。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3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" y="758952"/>
            <a:ext cx="146304" cy="5330952"/>
          </a:xfrm>
          <a:prstGeom prst="rect">
            <a:avLst/>
          </a:prstGeom>
          <a:solidFill>
            <a:srgbClr val="DB6C43"/>
          </a:solidFill>
          <a:ln w="12700">
            <a:solidFill>
              <a:srgbClr val="DB6C4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60704" y="9418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spc="100" kern="0" dirty="0">
                <a:solidFill>
                  <a:srgbClr val="A6C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综合实验 · 机器学习回归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060704" y="1572768"/>
            <a:ext cx="9966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北京二手房</a:t>
            </a:r>
            <a:endParaRPr lang="en-US" sz="5100" dirty="0"/>
          </a:p>
          <a:p>
            <a:pPr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单价预测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1078992" y="3877056"/>
            <a:ext cx="9966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FE9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用房屋属性预测 2017 年每平方米成交价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78992" y="4919472"/>
            <a:ext cx="10076688" cy="0"/>
          </a:xfrm>
          <a:prstGeom prst="line">
            <a:avLst/>
          </a:prstGeom>
          <a:noFill/>
          <a:ln w="12700">
            <a:solidFill>
              <a:srgbClr val="6B87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5202936"/>
            <a:ext cx="3566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43,213 条记录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4617720" y="5202936"/>
            <a:ext cx="3474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种回归模型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065008" y="5202936"/>
            <a:ext cx="3200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独立测试集验证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078992" y="6117336"/>
            <a:ext cx="10058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C0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数据来源：第三方整理的链家北京二手房成交记录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01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97A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数据与目标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630936"/>
            <a:ext cx="10972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50" b="1" dirty="0">
                <a:solidFill>
                  <a:srgbClr val="193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从成交记录到建模样本</a:t>
            </a:r>
            <a:endParaRPr lang="en-US" sz="3050" dirty="0"/>
          </a:p>
        </p:txBody>
      </p:sp>
      <p:sp>
        <p:nvSpPr>
          <p:cNvPr id="4" name="Shape 2"/>
          <p:cNvSpPr/>
          <p:nvPr/>
        </p:nvSpPr>
        <p:spPr>
          <a:xfrm>
            <a:off x="612648" y="6345936"/>
            <a:ext cx="10963656" cy="0"/>
          </a:xfrm>
          <a:prstGeom prst="line">
            <a:avLst/>
          </a:prstGeom>
          <a:noFill/>
          <a:ln w="10160">
            <a:solidFill>
              <a:srgbClr val="D9DF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37376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 北京二手房成交记录 · 综合实验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64099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572768"/>
            <a:ext cx="316382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755648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3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318,851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04672" y="2359152"/>
            <a:ext cx="27980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原始成交记录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04672" y="2670048"/>
            <a:ext cx="2798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跨年份的原始表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17136" y="1572768"/>
            <a:ext cx="316382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755648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3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43,217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700016" y="2359152"/>
            <a:ext cx="27980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筛出 2017 年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4700016" y="2670048"/>
            <a:ext cx="2798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统一时间范围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0" y="1572768"/>
            <a:ext cx="3163824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86216" y="1755648"/>
            <a:ext cx="2816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B6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43,213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595360" y="2359152"/>
            <a:ext cx="27980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最终建模样本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8595360" y="2670048"/>
            <a:ext cx="27980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剔除 4 条明显错误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858768" y="2002536"/>
            <a:ext cx="493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297A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900" dirty="0"/>
          </a:p>
        </p:txBody>
      </p:sp>
      <p:sp>
        <p:nvSpPr>
          <p:cNvPr id="20" name="Text 18"/>
          <p:cNvSpPr/>
          <p:nvPr/>
        </p:nvSpPr>
        <p:spPr>
          <a:xfrm>
            <a:off x="7754112" y="2002536"/>
            <a:ext cx="493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297A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900" dirty="0"/>
          </a:p>
        </p:txBody>
      </p:sp>
      <p:sp>
        <p:nvSpPr>
          <p:cNvPr id="21" name="Shape 19"/>
          <p:cNvSpPr/>
          <p:nvPr/>
        </p:nvSpPr>
        <p:spPr>
          <a:xfrm>
            <a:off x="621792" y="3337560"/>
            <a:ext cx="5285232" cy="2414016"/>
          </a:xfrm>
          <a:prstGeom prst="roundRect">
            <a:avLst>
              <a:gd name="adj" fmla="val 4545"/>
            </a:avLst>
          </a:prstGeom>
          <a:solidFill>
            <a:srgbClr val="DCECF5"/>
          </a:solidFill>
          <a:ln w="12700">
            <a:solidFill>
              <a:srgbClr val="DCECF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" y="3584448"/>
            <a:ext cx="1115568" cy="320040"/>
          </a:xfrm>
          <a:prstGeom prst="roundRect">
            <a:avLst>
              <a:gd name="adj" fmla="val 37143"/>
            </a:avLst>
          </a:prstGeom>
          <a:solidFill>
            <a:srgbClr val="297AB7"/>
          </a:solidFill>
          <a:ln w="12700">
            <a:solidFill>
              <a:srgbClr val="297AB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358444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预测目标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7824" y="4023360"/>
            <a:ext cx="43891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3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成交单价</a:t>
            </a:r>
            <a:endParaRPr lang="en-US" sz="2900" dirty="0"/>
          </a:p>
        </p:txBody>
      </p:sp>
      <p:sp>
        <p:nvSpPr>
          <p:cNvPr id="25" name="Text 23"/>
          <p:cNvSpPr/>
          <p:nvPr/>
        </p:nvSpPr>
        <p:spPr>
          <a:xfrm>
            <a:off x="877824" y="4727448"/>
            <a:ext cx="4562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单位：元/㎡；连续数值 → 回归问题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153912" y="3337560"/>
            <a:ext cx="5413248" cy="2414016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3584448"/>
            <a:ext cx="1115568" cy="320040"/>
          </a:xfrm>
          <a:prstGeom prst="roundRect">
            <a:avLst>
              <a:gd name="adj" fmla="val 37143"/>
            </a:avLst>
          </a:prstGeom>
          <a:solidFill>
            <a:srgbClr val="318578"/>
          </a:solidFill>
          <a:ln w="12700">
            <a:solidFill>
              <a:srgbClr val="31857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3584448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模型输入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19088" y="4023360"/>
            <a:ext cx="4663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3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项房屋属性</a:t>
            </a:r>
            <a:endParaRPr lang="en-US" sz="2900" dirty="0"/>
          </a:p>
        </p:txBody>
      </p:sp>
      <p:sp>
        <p:nvSpPr>
          <p:cNvPr id="30" name="Text 28"/>
          <p:cNvSpPr/>
          <p:nvPr/>
        </p:nvSpPr>
        <p:spPr>
          <a:xfrm>
            <a:off x="6419088" y="4672584"/>
            <a:ext cx="4718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面积、户型、区县、房龄、楼层、装修等</a:t>
            </a:r>
            <a:endParaRPr lang="en-US" sz="1730" dirty="0"/>
          </a:p>
        </p:txBody>
      </p:sp>
      <p:sp>
        <p:nvSpPr>
          <p:cNvPr id="31" name="Text 29"/>
          <p:cNvSpPr/>
          <p:nvPr/>
        </p:nvSpPr>
        <p:spPr>
          <a:xfrm>
            <a:off x="6419088" y="51389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DB6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总价与小区均价不入模，避免价格信息泄露</a:t>
            </a:r>
            <a:endParaRPr lang="en-US" sz="14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01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97A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数据观察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630936"/>
            <a:ext cx="10972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50" b="1" dirty="0">
                <a:solidFill>
                  <a:srgbClr val="193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价格跨度大，高价端有长尾</a:t>
            </a:r>
            <a:endParaRPr lang="en-US" sz="3050" dirty="0"/>
          </a:p>
        </p:txBody>
      </p:sp>
      <p:sp>
        <p:nvSpPr>
          <p:cNvPr id="4" name="Shape 2"/>
          <p:cNvSpPr/>
          <p:nvPr/>
        </p:nvSpPr>
        <p:spPr>
          <a:xfrm>
            <a:off x="612648" y="6345936"/>
            <a:ext cx="10963656" cy="0"/>
          </a:xfrm>
          <a:prstGeom prst="line">
            <a:avLst/>
          </a:prstGeom>
          <a:noFill/>
          <a:ln w="10160">
            <a:solidFill>
              <a:srgbClr val="D9DF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37376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 北京二手房成交记录 · 综合实验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64099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435608"/>
            <a:ext cx="7342632" cy="4553712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2017 年二手房单价分布直方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627632"/>
            <a:ext cx="6912864" cy="39136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562356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清洗后 43,213 条成交记录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0456" y="1435608"/>
            <a:ext cx="3346704" cy="4553712"/>
          </a:xfrm>
          <a:prstGeom prst="roundRect">
            <a:avLst>
              <a:gd name="adj" fmla="val 3279"/>
            </a:avLst>
          </a:prstGeom>
          <a:solidFill>
            <a:srgbClr val="193149"/>
          </a:solidFill>
          <a:ln w="12700">
            <a:solidFill>
              <a:srgbClr val="193149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94776" y="1810512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62,332</a:t>
            </a:r>
            <a:endParaRPr lang="en-US" sz="3700" dirty="0"/>
          </a:p>
        </p:txBody>
      </p:sp>
      <p:sp>
        <p:nvSpPr>
          <p:cNvPr id="12" name="Text 9"/>
          <p:cNvSpPr/>
          <p:nvPr/>
        </p:nvSpPr>
        <p:spPr>
          <a:xfrm>
            <a:off x="8494776" y="2514600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FD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单价中位数  元/㎡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494776" y="3026664"/>
            <a:ext cx="2734056" cy="0"/>
          </a:xfrm>
          <a:prstGeom prst="line">
            <a:avLst/>
          </a:prstGeom>
          <a:noFill/>
          <a:ln w="11430">
            <a:solidFill>
              <a:srgbClr val="6A86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94776" y="338328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4.9 万—8.1 万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8494776" y="4032504"/>
            <a:ext cx="2715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DC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 50% 房源的单价范围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494776" y="5074920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2C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因此还要单独检查高价房的预测误差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01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97A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数据观察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630936"/>
            <a:ext cx="10972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50" b="1" dirty="0">
                <a:solidFill>
                  <a:srgbClr val="193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区县差异是最突出的价格信号</a:t>
            </a:r>
            <a:endParaRPr lang="en-US" sz="3050" dirty="0"/>
          </a:p>
        </p:txBody>
      </p:sp>
      <p:sp>
        <p:nvSpPr>
          <p:cNvPr id="4" name="Shape 2"/>
          <p:cNvSpPr/>
          <p:nvPr/>
        </p:nvSpPr>
        <p:spPr>
          <a:xfrm>
            <a:off x="612648" y="6345936"/>
            <a:ext cx="10963656" cy="0"/>
          </a:xfrm>
          <a:prstGeom prst="line">
            <a:avLst/>
          </a:prstGeom>
          <a:noFill/>
          <a:ln w="10160">
            <a:solidFill>
              <a:srgbClr val="D9DF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37376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 北京二手房成交记录 · 综合实验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64099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435608"/>
            <a:ext cx="7516368" cy="4553712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00784"/>
            <a:ext cx="70043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部分区县的成交单价中位数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41832" y="2167128"/>
            <a:ext cx="722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房山</a:t>
            </a:r>
            <a:endParaRPr lang="en-US" sz="1630" dirty="0"/>
          </a:p>
        </p:txBody>
      </p:sp>
      <p:sp>
        <p:nvSpPr>
          <p:cNvPr id="10" name="Shape 8"/>
          <p:cNvSpPr/>
          <p:nvPr/>
        </p:nvSpPr>
        <p:spPr>
          <a:xfrm>
            <a:off x="1773936" y="2203704"/>
            <a:ext cx="1656429" cy="228600"/>
          </a:xfrm>
          <a:prstGeom prst="roundRect">
            <a:avLst>
              <a:gd name="adj" fmla="val 20000"/>
            </a:avLst>
          </a:prstGeom>
          <a:solidFill>
            <a:srgbClr val="BBC7CC"/>
          </a:solidFill>
          <a:ln w="12700">
            <a:solidFill>
              <a:srgbClr val="BBC7C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48272" y="21579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3.85 万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941832" y="2734056"/>
            <a:ext cx="722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顺义</a:t>
            </a:r>
            <a:endParaRPr lang="en-US" sz="1630" dirty="0"/>
          </a:p>
        </p:txBody>
      </p:sp>
      <p:sp>
        <p:nvSpPr>
          <p:cNvPr id="13" name="Shape 11"/>
          <p:cNvSpPr/>
          <p:nvPr/>
        </p:nvSpPr>
        <p:spPr>
          <a:xfrm>
            <a:off x="1773936" y="2770632"/>
            <a:ext cx="1779107" cy="228600"/>
          </a:xfrm>
          <a:prstGeom prst="roundRect">
            <a:avLst>
              <a:gd name="adj" fmla="val 20000"/>
            </a:avLst>
          </a:prstGeom>
          <a:solidFill>
            <a:srgbClr val="297AB7"/>
          </a:solidFill>
          <a:ln w="12700">
            <a:solidFill>
              <a:srgbClr val="297AB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8272" y="27249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4.13 万</a:t>
            </a:r>
            <a:endParaRPr lang="en-US" sz="1530" dirty="0"/>
          </a:p>
        </p:txBody>
      </p:sp>
      <p:sp>
        <p:nvSpPr>
          <p:cNvPr id="15" name="Text 13"/>
          <p:cNvSpPr/>
          <p:nvPr/>
        </p:nvSpPr>
        <p:spPr>
          <a:xfrm>
            <a:off x="941832" y="3300984"/>
            <a:ext cx="722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昌平</a:t>
            </a:r>
            <a:endParaRPr lang="en-US" sz="1630" dirty="0"/>
          </a:p>
        </p:txBody>
      </p:sp>
      <p:sp>
        <p:nvSpPr>
          <p:cNvPr id="16" name="Shape 14"/>
          <p:cNvSpPr/>
          <p:nvPr/>
        </p:nvSpPr>
        <p:spPr>
          <a:xfrm>
            <a:off x="1773936" y="3337560"/>
            <a:ext cx="1944931" cy="228600"/>
          </a:xfrm>
          <a:prstGeom prst="roundRect">
            <a:avLst>
              <a:gd name="adj" fmla="val 20000"/>
            </a:avLst>
          </a:prstGeom>
          <a:solidFill>
            <a:srgbClr val="297AB7"/>
          </a:solidFill>
          <a:ln w="12700">
            <a:solidFill>
              <a:srgbClr val="297AB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329184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4.52 万</a:t>
            </a:r>
            <a:endParaRPr lang="en-US" sz="1530" dirty="0"/>
          </a:p>
        </p:txBody>
      </p:sp>
      <p:sp>
        <p:nvSpPr>
          <p:cNvPr id="18" name="Text 16"/>
          <p:cNvSpPr/>
          <p:nvPr/>
        </p:nvSpPr>
        <p:spPr>
          <a:xfrm>
            <a:off x="941832" y="3867912"/>
            <a:ext cx="722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朝阳</a:t>
            </a:r>
            <a:endParaRPr lang="en-US" sz="1630" dirty="0"/>
          </a:p>
        </p:txBody>
      </p:sp>
      <p:sp>
        <p:nvSpPr>
          <p:cNvPr id="19" name="Shape 17"/>
          <p:cNvSpPr/>
          <p:nvPr/>
        </p:nvSpPr>
        <p:spPr>
          <a:xfrm>
            <a:off x="1773936" y="3904488"/>
            <a:ext cx="2860256" cy="228600"/>
          </a:xfrm>
          <a:prstGeom prst="roundRect">
            <a:avLst>
              <a:gd name="adj" fmla="val 20000"/>
            </a:avLst>
          </a:prstGeom>
          <a:solidFill>
            <a:srgbClr val="297AB7"/>
          </a:solidFill>
          <a:ln w="12700">
            <a:solidFill>
              <a:srgbClr val="297AB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385876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6.64 万</a:t>
            </a:r>
            <a:endParaRPr lang="en-US" sz="1530" dirty="0"/>
          </a:p>
        </p:txBody>
      </p:sp>
      <p:sp>
        <p:nvSpPr>
          <p:cNvPr id="21" name="Text 19"/>
          <p:cNvSpPr/>
          <p:nvPr/>
        </p:nvSpPr>
        <p:spPr>
          <a:xfrm>
            <a:off x="941832" y="4434840"/>
            <a:ext cx="722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海淀</a:t>
            </a:r>
            <a:endParaRPr lang="en-US" sz="1630" dirty="0"/>
          </a:p>
        </p:txBody>
      </p:sp>
      <p:sp>
        <p:nvSpPr>
          <p:cNvPr id="22" name="Shape 20"/>
          <p:cNvSpPr/>
          <p:nvPr/>
        </p:nvSpPr>
        <p:spPr>
          <a:xfrm>
            <a:off x="1773936" y="4471416"/>
            <a:ext cx="3636196" cy="228600"/>
          </a:xfrm>
          <a:prstGeom prst="roundRect">
            <a:avLst>
              <a:gd name="adj" fmla="val 20000"/>
            </a:avLst>
          </a:prstGeom>
          <a:solidFill>
            <a:srgbClr val="297AB7"/>
          </a:solidFill>
          <a:ln w="12700">
            <a:solidFill>
              <a:srgbClr val="297AB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442569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8.44 万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941832" y="5001768"/>
            <a:ext cx="7223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西城</a:t>
            </a:r>
            <a:endParaRPr lang="en-US" sz="1630" dirty="0"/>
          </a:p>
        </p:txBody>
      </p:sp>
      <p:sp>
        <p:nvSpPr>
          <p:cNvPr id="25" name="Shape 23"/>
          <p:cNvSpPr/>
          <p:nvPr/>
        </p:nvSpPr>
        <p:spPr>
          <a:xfrm>
            <a:off x="1773936" y="5038344"/>
            <a:ext cx="4564998" cy="228600"/>
          </a:xfrm>
          <a:prstGeom prst="roundRect">
            <a:avLst>
              <a:gd name="adj" fmla="val 20000"/>
            </a:avLst>
          </a:prstGeom>
          <a:solidFill>
            <a:srgbClr val="DB6C43"/>
          </a:solidFill>
          <a:ln w="12700">
            <a:solidFill>
              <a:srgbClr val="DB6C4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499262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30" b="1" dirty="0">
                <a:solidFill>
                  <a:srgbClr val="DB6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10.60 万</a:t>
            </a:r>
            <a:endParaRPr lang="en-US" sz="1530" dirty="0"/>
          </a:p>
        </p:txBody>
      </p:sp>
      <p:sp>
        <p:nvSpPr>
          <p:cNvPr id="27" name="Text 25"/>
          <p:cNvSpPr/>
          <p:nvPr/>
        </p:nvSpPr>
        <p:spPr>
          <a:xfrm>
            <a:off x="914400" y="5641848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仅展示 6 个区县；中位数按区县分别计算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94192" y="1435608"/>
            <a:ext cx="3172968" cy="2011680"/>
          </a:xfrm>
          <a:prstGeom prst="roundRect">
            <a:avLst>
              <a:gd name="adj" fmla="val 5455"/>
            </a:avLst>
          </a:prstGeom>
          <a:solidFill>
            <a:srgbClr val="193149"/>
          </a:solidFill>
          <a:ln w="12700">
            <a:solidFill>
              <a:srgbClr val="19314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59368" y="1792224"/>
            <a:ext cx="26334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2.76×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8659368" y="2624328"/>
            <a:ext cx="26700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D0DD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西城 / 房山中位数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8394192" y="3657600"/>
            <a:ext cx="3172968" cy="2331720"/>
          </a:xfrm>
          <a:prstGeom prst="roundRect">
            <a:avLst>
              <a:gd name="adj" fmla="val 4706"/>
            </a:avLst>
          </a:prstGeom>
          <a:solidFill>
            <a:srgbClr val="F9E9E0"/>
          </a:solidFill>
          <a:ln w="12700">
            <a:solidFill>
              <a:srgbClr val="F9E9E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59368" y="4005072"/>
            <a:ext cx="2633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DB6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62.7%</a:t>
            </a:r>
            <a:endParaRPr lang="en-US" sz="3700" dirty="0"/>
          </a:p>
        </p:txBody>
      </p:sp>
      <p:sp>
        <p:nvSpPr>
          <p:cNvPr id="33" name="Text 31"/>
          <p:cNvSpPr/>
          <p:nvPr/>
        </p:nvSpPr>
        <p:spPr>
          <a:xfrm>
            <a:off x="8659368" y="4828032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按区县分组的方差解释率 η²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59368" y="5522976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统计关联，不代表因果比例</a:t>
            </a:r>
            <a:endParaRPr lang="en-US" sz="12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01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97A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模型架构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630936"/>
            <a:ext cx="10972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50" b="1" dirty="0">
                <a:solidFill>
                  <a:srgbClr val="193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模型架构：16 项房屋属性如何变成单价</a:t>
            </a:r>
            <a:endParaRPr lang="en-US" sz="3050" dirty="0"/>
          </a:p>
        </p:txBody>
      </p:sp>
      <p:sp>
        <p:nvSpPr>
          <p:cNvPr id="4" name="Shape 2"/>
          <p:cNvSpPr/>
          <p:nvPr/>
        </p:nvSpPr>
        <p:spPr>
          <a:xfrm>
            <a:off x="612648" y="6345936"/>
            <a:ext cx="10963656" cy="0"/>
          </a:xfrm>
          <a:prstGeom prst="line">
            <a:avLst/>
          </a:prstGeom>
          <a:noFill/>
          <a:ln w="10160">
            <a:solidFill>
              <a:srgbClr val="D9DF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37376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 北京二手房成交记录 · 综合实验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64099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2029968" cy="2542032"/>
          </a:xfrm>
          <a:prstGeom prst="roundRect">
            <a:avLst>
              <a:gd name="adj" fmla="val 5405"/>
            </a:avLst>
          </a:prstGeom>
          <a:solidFill>
            <a:srgbClr val="193149"/>
          </a:solidFill>
          <a:ln w="12700">
            <a:solidFill>
              <a:srgbClr val="19314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938528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C8DA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77824" y="239572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项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877824" y="3191256"/>
            <a:ext cx="15819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面积 · 房龄 · 区县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户型 · 装修等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97480" y="2642616"/>
            <a:ext cx="338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97A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081528" y="1673352"/>
            <a:ext cx="4690872" cy="1133856"/>
          </a:xfrm>
          <a:prstGeom prst="roundRect">
            <a:avLst>
              <a:gd name="adj" fmla="val 9677"/>
            </a:avLst>
          </a:prstGeom>
          <a:solidFill>
            <a:srgbClr val="DCECF5"/>
          </a:solidFill>
          <a:ln w="12700">
            <a:solidFill>
              <a:srgbClr val="DCECF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1883664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93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数值特征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4709160" y="18836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缺失值取中位数  →  标准化</a:t>
            </a:r>
            <a:endParaRPr lang="en-US" sz="1720" dirty="0"/>
          </a:p>
        </p:txBody>
      </p:sp>
      <p:sp>
        <p:nvSpPr>
          <p:cNvPr id="15" name="Shape 13"/>
          <p:cNvSpPr/>
          <p:nvPr/>
        </p:nvSpPr>
        <p:spPr>
          <a:xfrm>
            <a:off x="3081528" y="3081528"/>
            <a:ext cx="4690872" cy="1133856"/>
          </a:xfrm>
          <a:prstGeom prst="roundRect">
            <a:avLst>
              <a:gd name="adj" fmla="val 9677"/>
            </a:avLst>
          </a:prstGeom>
          <a:solidFill>
            <a:srgbClr val="DFEFEB"/>
          </a:solidFill>
          <a:ln w="12700">
            <a:solidFill>
              <a:srgbClr val="DFEF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3291840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93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类别特征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4709160" y="3291840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6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众数填补  →  One-hot 编码</a:t>
            </a:r>
            <a:endParaRPr lang="en-US" sz="1660" dirty="0"/>
          </a:p>
        </p:txBody>
      </p:sp>
      <p:sp>
        <p:nvSpPr>
          <p:cNvPr id="18" name="Text 16"/>
          <p:cNvSpPr/>
          <p:nvPr/>
        </p:nvSpPr>
        <p:spPr>
          <a:xfrm>
            <a:off x="7845552" y="2642616"/>
            <a:ext cx="3383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97A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247888" y="1673352"/>
            <a:ext cx="3328416" cy="2542032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22208" y="1938528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93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回归模型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8522208" y="2487168"/>
            <a:ext cx="27066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线性回归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KNN 回归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决策树回归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522208" y="3749040"/>
            <a:ext cx="2697480" cy="320040"/>
          </a:xfrm>
          <a:prstGeom prst="roundRect">
            <a:avLst>
              <a:gd name="adj" fmla="val 37143"/>
            </a:avLst>
          </a:prstGeom>
          <a:solidFill>
            <a:srgbClr val="F9E9E0"/>
          </a:solidFill>
          <a:ln w="12700">
            <a:solidFill>
              <a:srgbClr val="F9E9E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22208" y="37490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B6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输出：预测单价 元/㎡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4517136"/>
            <a:ext cx="3666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训练与评估</a:t>
            </a:r>
            <a:endParaRPr lang="en-US" sz="2050" dirty="0"/>
          </a:p>
        </p:txBody>
      </p:sp>
      <p:sp>
        <p:nvSpPr>
          <p:cNvPr id="25" name="Shape 23"/>
          <p:cNvSpPr/>
          <p:nvPr/>
        </p:nvSpPr>
        <p:spPr>
          <a:xfrm>
            <a:off x="621792" y="4928616"/>
            <a:ext cx="1095451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157216"/>
            <a:ext cx="29352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 训练集 · 34,570 条</a:t>
            </a:r>
            <a:endParaRPr lang="en-US" sz="1740" dirty="0"/>
          </a:p>
        </p:txBody>
      </p:sp>
      <p:sp>
        <p:nvSpPr>
          <p:cNvPr id="27" name="Text 25"/>
          <p:cNvSpPr/>
          <p:nvPr/>
        </p:nvSpPr>
        <p:spPr>
          <a:xfrm>
            <a:off x="3904488" y="5129784"/>
            <a:ext cx="37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97A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4315968" y="5157216"/>
            <a:ext cx="3621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训练集内 5 折 CV 选模</a:t>
            </a:r>
            <a:endParaRPr lang="en-US" sz="1740" dirty="0"/>
          </a:p>
        </p:txBody>
      </p:sp>
      <p:sp>
        <p:nvSpPr>
          <p:cNvPr id="29" name="Text 27"/>
          <p:cNvSpPr/>
          <p:nvPr/>
        </p:nvSpPr>
        <p:spPr>
          <a:xfrm>
            <a:off x="8037576" y="5129784"/>
            <a:ext cx="374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97A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8366760" y="5157216"/>
            <a:ext cx="2944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 测试集 · 8,643 条</a:t>
            </a:r>
            <a:endParaRPr lang="en-US" sz="1740" dirty="0"/>
          </a:p>
        </p:txBody>
      </p:sp>
      <p:sp>
        <p:nvSpPr>
          <p:cNvPr id="31" name="Text 29"/>
          <p:cNvSpPr/>
          <p:nvPr/>
        </p:nvSpPr>
        <p:spPr>
          <a:xfrm>
            <a:off x="640080" y="5952744"/>
            <a:ext cx="10890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9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预处理在每折训练管线内重新拟合，避免验证数据提前影响模型；另设均值基线作参照。</a:t>
            </a:r>
            <a:endParaRPr lang="en-US" sz="13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01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97A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模型原理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630936"/>
            <a:ext cx="10972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50" b="1" dirty="0">
                <a:solidFill>
                  <a:srgbClr val="193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三种模型如何给出房价预测</a:t>
            </a:r>
            <a:endParaRPr lang="en-US" sz="3050" dirty="0"/>
          </a:p>
        </p:txBody>
      </p:sp>
      <p:sp>
        <p:nvSpPr>
          <p:cNvPr id="4" name="Shape 2"/>
          <p:cNvSpPr/>
          <p:nvPr/>
        </p:nvSpPr>
        <p:spPr>
          <a:xfrm>
            <a:off x="612648" y="6345936"/>
            <a:ext cx="10963656" cy="0"/>
          </a:xfrm>
          <a:prstGeom prst="line">
            <a:avLst/>
          </a:prstGeom>
          <a:noFill/>
          <a:ln w="10160">
            <a:solidFill>
              <a:srgbClr val="D9DF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37376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 北京二手房成交记录 · 综合实验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64099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490472"/>
            <a:ext cx="3401568" cy="451713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783080"/>
            <a:ext cx="137160" cy="475488"/>
          </a:xfrm>
          <a:prstGeom prst="rect">
            <a:avLst/>
          </a:prstGeom>
          <a:solidFill>
            <a:srgbClr val="297AB7"/>
          </a:solidFill>
          <a:ln w="12700">
            <a:solidFill>
              <a:srgbClr val="297AB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1792224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线性回归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68680" y="2350008"/>
            <a:ext cx="1316736" cy="320040"/>
          </a:xfrm>
          <a:prstGeom prst="roundRect">
            <a:avLst>
              <a:gd name="adj" fmla="val 37143"/>
            </a:avLst>
          </a:prstGeom>
          <a:solidFill>
            <a:srgbClr val="297AB7"/>
          </a:solidFill>
          <a:ln w="12700">
            <a:solidFill>
              <a:srgbClr val="297AB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35000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加权求和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2898648"/>
            <a:ext cx="28620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为处理后的各个特征学习权重，叠加得到预测单价。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68680" y="4215384"/>
            <a:ext cx="2889504" cy="0"/>
          </a:xfrm>
          <a:prstGeom prst="line">
            <a:avLst/>
          </a:prstGeom>
          <a:noFill/>
          <a:ln w="12700">
            <a:solidFill>
              <a:srgbClr val="D9DF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62272"/>
            <a:ext cx="28620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优点：简洁，是效果参照。</a:t>
            </a:r>
            <a:endParaRPr lang="en-US" sz="1620" dirty="0"/>
          </a:p>
        </p:txBody>
      </p:sp>
      <p:sp>
        <p:nvSpPr>
          <p:cNvPr id="15" name="Shape 13"/>
          <p:cNvSpPr/>
          <p:nvPr/>
        </p:nvSpPr>
        <p:spPr>
          <a:xfrm>
            <a:off x="4398264" y="1490472"/>
            <a:ext cx="3401568" cy="451713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5152" y="1783080"/>
            <a:ext cx="137160" cy="475488"/>
          </a:xfrm>
          <a:prstGeom prst="rect">
            <a:avLst/>
          </a:prstGeom>
          <a:solidFill>
            <a:srgbClr val="318578"/>
          </a:solidFill>
          <a:ln w="12700">
            <a:solidFill>
              <a:srgbClr val="31857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1792224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KNN 回归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645152" y="2350008"/>
            <a:ext cx="1316736" cy="320040"/>
          </a:xfrm>
          <a:prstGeom prst="roundRect">
            <a:avLst>
              <a:gd name="adj" fmla="val 37143"/>
            </a:avLst>
          </a:prstGeom>
          <a:solidFill>
            <a:srgbClr val="318578"/>
          </a:solidFill>
          <a:ln w="12700">
            <a:solidFill>
              <a:srgbClr val="31857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235000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相似房源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45152" y="2898648"/>
            <a:ext cx="28620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在特征空间找最近的 5 套训练房源，取它们的单价均值。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4645152" y="4215384"/>
            <a:ext cx="2889504" cy="0"/>
          </a:xfrm>
          <a:prstGeom prst="line">
            <a:avLst/>
          </a:prstGeom>
          <a:noFill/>
          <a:ln w="12700">
            <a:solidFill>
              <a:srgbClr val="D9DF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4462272"/>
            <a:ext cx="28620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限制：距离容易受特征表示影响。</a:t>
            </a:r>
            <a:endParaRPr lang="en-US" sz="1620" dirty="0"/>
          </a:p>
        </p:txBody>
      </p:sp>
      <p:sp>
        <p:nvSpPr>
          <p:cNvPr id="23" name="Shape 21"/>
          <p:cNvSpPr/>
          <p:nvPr/>
        </p:nvSpPr>
        <p:spPr>
          <a:xfrm>
            <a:off x="8174736" y="1490472"/>
            <a:ext cx="3401568" cy="4517136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21624" y="1783080"/>
            <a:ext cx="137160" cy="475488"/>
          </a:xfrm>
          <a:prstGeom prst="rect">
            <a:avLst/>
          </a:prstGeom>
          <a:solidFill>
            <a:srgbClr val="DB6C43"/>
          </a:solidFill>
          <a:ln w="12700">
            <a:solidFill>
              <a:srgbClr val="DB6C4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77656" y="1792224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决策树回归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8421624" y="2350008"/>
            <a:ext cx="1316736" cy="320040"/>
          </a:xfrm>
          <a:prstGeom prst="roundRect">
            <a:avLst>
              <a:gd name="adj" fmla="val 37143"/>
            </a:avLst>
          </a:prstGeom>
          <a:solidFill>
            <a:srgbClr val="DB6C43"/>
          </a:solidFill>
          <a:ln w="12700">
            <a:solidFill>
              <a:srgbClr val="DB6C4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21624" y="2350008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条件划分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21624" y="2898648"/>
            <a:ext cx="2862072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按区县、面积等条件逐层切分；叶节点房源的均价作为预测。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8421624" y="4215384"/>
            <a:ext cx="2889504" cy="0"/>
          </a:xfrm>
          <a:prstGeom prst="line">
            <a:avLst/>
          </a:prstGeom>
          <a:noFill/>
          <a:ln w="12700">
            <a:solidFill>
              <a:srgbClr val="D9DF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21624" y="4462272"/>
            <a:ext cx="28620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2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优点：可学习非线性和特征组合。</a:t>
            </a:r>
            <a:endParaRPr lang="en-US" sz="1620" dirty="0"/>
          </a:p>
        </p:txBody>
      </p:sp>
      <p:sp>
        <p:nvSpPr>
          <p:cNvPr id="31" name="Text 29"/>
          <p:cNvSpPr/>
          <p:nvPr/>
        </p:nvSpPr>
        <p:spPr>
          <a:xfrm>
            <a:off x="1115568" y="558698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97A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ŷ = β₀ + Σ βᵢxᵢ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5358384" y="55869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185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= 5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449056" y="5586984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B6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 ≤ 12 · 叶节点 ≥ 20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01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97A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模型结果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630936"/>
            <a:ext cx="10972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50" b="1" dirty="0">
                <a:solidFill>
                  <a:srgbClr val="193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决策树在相同测试集上表现最好</a:t>
            </a:r>
            <a:endParaRPr lang="en-US" sz="3050" dirty="0"/>
          </a:p>
        </p:txBody>
      </p:sp>
      <p:sp>
        <p:nvSpPr>
          <p:cNvPr id="4" name="Shape 2"/>
          <p:cNvSpPr/>
          <p:nvPr/>
        </p:nvSpPr>
        <p:spPr>
          <a:xfrm>
            <a:off x="612648" y="6345936"/>
            <a:ext cx="10963656" cy="0"/>
          </a:xfrm>
          <a:prstGeom prst="line">
            <a:avLst/>
          </a:prstGeom>
          <a:noFill/>
          <a:ln w="10160">
            <a:solidFill>
              <a:srgbClr val="D9DF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37376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 北京二手房成交记录 · 综合实验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64099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435608"/>
            <a:ext cx="6464808" cy="4553712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2821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 R²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35915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均值基线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2240280" y="2395728"/>
            <a:ext cx="0" cy="256032"/>
          </a:xfrm>
          <a:prstGeom prst="roundRect">
            <a:avLst>
              <a:gd name="adj" fmla="val Infinity"/>
            </a:avLst>
          </a:prstGeom>
          <a:solidFill>
            <a:srgbClr val="BBC7CC"/>
          </a:solidFill>
          <a:ln w="12700">
            <a:solidFill>
              <a:srgbClr val="BBC7CC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0448" y="235000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09067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KNN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2240280" y="3127248"/>
            <a:ext cx="2964119" cy="256032"/>
          </a:xfrm>
          <a:prstGeom prst="roundRect">
            <a:avLst>
              <a:gd name="adj" fmla="val 17857"/>
            </a:avLst>
          </a:prstGeom>
          <a:solidFill>
            <a:srgbClr val="318578"/>
          </a:solidFill>
          <a:ln w="12700">
            <a:solidFill>
              <a:srgbClr val="31857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308152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0.608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82219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线性回归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2240280" y="3858768"/>
            <a:ext cx="3354751" cy="256032"/>
          </a:xfrm>
          <a:prstGeom prst="roundRect">
            <a:avLst>
              <a:gd name="adj" fmla="val 17857"/>
            </a:avLst>
          </a:prstGeom>
          <a:solidFill>
            <a:srgbClr val="297AB7"/>
          </a:solidFill>
          <a:ln w="12700">
            <a:solidFill>
              <a:srgbClr val="297AB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381304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0.688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55371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2240280" y="4590288"/>
            <a:ext cx="3510808" cy="256032"/>
          </a:xfrm>
          <a:prstGeom prst="roundRect">
            <a:avLst>
              <a:gd name="adj" fmla="val 17857"/>
            </a:avLst>
          </a:prstGeom>
          <a:solidFill>
            <a:srgbClr val="DB6C43"/>
          </a:solidFill>
          <a:ln w="12700">
            <a:solidFill>
              <a:srgbClr val="DB6C4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0448" y="454456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B6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0.720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" y="5586984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R² 越高越好；均值基线约为 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42632" y="1435608"/>
            <a:ext cx="4224528" cy="2816352"/>
          </a:xfrm>
          <a:prstGeom prst="roundRect">
            <a:avLst>
              <a:gd name="adj" fmla="val 3896"/>
            </a:avLst>
          </a:prstGeom>
          <a:solidFill>
            <a:srgbClr val="193149"/>
          </a:solidFill>
          <a:ln w="12700">
            <a:solidFill>
              <a:srgbClr val="19314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35240" y="1719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DA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635240" y="2240280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0.711</a:t>
            </a:r>
            <a:endParaRPr lang="en-US" sz="3700" dirty="0"/>
          </a:p>
        </p:txBody>
      </p:sp>
      <p:sp>
        <p:nvSpPr>
          <p:cNvPr id="25" name="Text 23"/>
          <p:cNvSpPr/>
          <p:nvPr/>
        </p:nvSpPr>
        <p:spPr>
          <a:xfrm>
            <a:off x="7635240" y="294436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A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训练集 5 折 CV R²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35240" y="346557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R²  0.720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7342632" y="4489704"/>
            <a:ext cx="4224528" cy="1499616"/>
          </a:xfrm>
          <a:prstGeom prst="roundRect">
            <a:avLst>
              <a:gd name="adj" fmla="val 7317"/>
            </a:avLst>
          </a:prstGeom>
          <a:solidFill>
            <a:srgbClr val="F9E9E0"/>
          </a:solidFill>
          <a:ln w="12700">
            <a:solidFill>
              <a:srgbClr val="F9E9E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4736592"/>
            <a:ext cx="3557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B6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9,462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5240" y="5385816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 MAE · 元/㎡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58368" y="605332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比线性回归少 791 元/㎡；比均值基线少 10,037 元/㎡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01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97A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误差分析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630936"/>
            <a:ext cx="10972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50" b="1" dirty="0">
                <a:solidFill>
                  <a:srgbClr val="193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高价房更难预测，整体分数不能代替分组检查</a:t>
            </a:r>
            <a:endParaRPr lang="en-US" sz="3050" dirty="0"/>
          </a:p>
        </p:txBody>
      </p:sp>
      <p:sp>
        <p:nvSpPr>
          <p:cNvPr id="4" name="Shape 2"/>
          <p:cNvSpPr/>
          <p:nvPr/>
        </p:nvSpPr>
        <p:spPr>
          <a:xfrm>
            <a:off x="612648" y="6345936"/>
            <a:ext cx="10963656" cy="0"/>
          </a:xfrm>
          <a:prstGeom prst="line">
            <a:avLst/>
          </a:prstGeom>
          <a:noFill/>
          <a:ln w="10160">
            <a:solidFill>
              <a:srgbClr val="D9DF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37376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 北京二手房成交记录 · 综合实验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64099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435608"/>
            <a:ext cx="5166360" cy="4553712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决策树真实单价与预测单价散点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655064"/>
            <a:ext cx="4151376" cy="3822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5632704"/>
            <a:ext cx="4526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对角线：预测价 = 实际价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44184" y="1435608"/>
            <a:ext cx="5522976" cy="4553712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27648" y="1728216"/>
            <a:ext cx="4937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按真实单价分组的测试集误差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327648" y="235915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 25%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814816" y="23500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7,490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327648" y="2770632"/>
            <a:ext cx="2176272" cy="201168"/>
          </a:xfrm>
          <a:prstGeom prst="roundRect">
            <a:avLst>
              <a:gd name="adj" fmla="val 22727"/>
            </a:avLst>
          </a:prstGeom>
          <a:solidFill>
            <a:srgbClr val="297AB7"/>
          </a:solidFill>
          <a:ln w="12700">
            <a:solidFill>
              <a:srgbClr val="297AB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27648" y="330098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 25%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814816" y="32918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DB6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14,502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6327648" y="3712464"/>
            <a:ext cx="4215384" cy="201168"/>
          </a:xfrm>
          <a:prstGeom prst="roundRect">
            <a:avLst>
              <a:gd name="adj" fmla="val 22727"/>
            </a:avLst>
          </a:prstGeom>
          <a:solidFill>
            <a:srgbClr val="DB6C43"/>
          </a:solidFill>
          <a:ln w="12700">
            <a:solidFill>
              <a:srgbClr val="DB6C43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27648" y="4105656"/>
            <a:ext cx="4736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MAE · 元/㎡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327648" y="4535424"/>
            <a:ext cx="4873752" cy="0"/>
          </a:xfrm>
          <a:prstGeom prst="line">
            <a:avLst/>
          </a:prstGeom>
          <a:noFill/>
          <a:ln w="11430">
            <a:solidFill>
              <a:srgbClr val="D9DF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27648" y="48188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高价组平均低估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439912" y="4736592"/>
            <a:ext cx="27614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40" b="1" dirty="0">
                <a:solidFill>
                  <a:srgbClr val="DB6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8,020 元/㎡</a:t>
            </a:r>
            <a:endParaRPr lang="en-US" sz="2240" dirty="0"/>
          </a:p>
        </p:txBody>
      </p:sp>
      <p:sp>
        <p:nvSpPr>
          <p:cNvPr id="22" name="Text 19"/>
          <p:cNvSpPr/>
          <p:nvPr/>
        </p:nvSpPr>
        <p:spPr>
          <a:xfrm>
            <a:off x="6336792" y="5568696"/>
            <a:ext cx="4855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高价组 MAE 约是低价组的 1.94 倍</a:t>
            </a:r>
            <a:endParaRPr lang="en-US" sz="13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301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97A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演示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648" y="630936"/>
            <a:ext cx="10972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50" b="1" dirty="0">
                <a:solidFill>
                  <a:srgbClr val="193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现场演示：先看真实测试样本，再改输入</a:t>
            </a:r>
            <a:endParaRPr lang="en-US" sz="3050" dirty="0"/>
          </a:p>
        </p:txBody>
      </p:sp>
      <p:sp>
        <p:nvSpPr>
          <p:cNvPr id="4" name="Shape 2"/>
          <p:cNvSpPr/>
          <p:nvPr/>
        </p:nvSpPr>
        <p:spPr>
          <a:xfrm>
            <a:off x="612648" y="6345936"/>
            <a:ext cx="10963656" cy="0"/>
          </a:xfrm>
          <a:prstGeom prst="line">
            <a:avLst/>
          </a:prstGeom>
          <a:noFill/>
          <a:ln w="10160">
            <a:solidFill>
              <a:srgbClr val="D9DF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6437376"/>
            <a:ext cx="7315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2017 北京二手房成交记录 · 综合实验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640994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435608"/>
            <a:ext cx="10954512" cy="3090672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83080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136392" y="17830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面积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837176" y="1783080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真实单价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040880" y="178308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预测单价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208008" y="1783080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14400" y="2212848"/>
            <a:ext cx="10332720" cy="0"/>
          </a:xfrm>
          <a:prstGeom prst="line">
            <a:avLst/>
          </a:prstGeom>
          <a:noFill/>
          <a:ln w="12700">
            <a:solidFill>
              <a:srgbClr val="D9DF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441448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朝阳两居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136392" y="24414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98.86 ㎡</a:t>
            </a:r>
            <a:endParaRPr lang="en-US" sz="1630" dirty="0"/>
          </a:p>
        </p:txBody>
      </p:sp>
      <p:sp>
        <p:nvSpPr>
          <p:cNvPr id="16" name="Text 14"/>
          <p:cNvSpPr/>
          <p:nvPr/>
        </p:nvSpPr>
        <p:spPr>
          <a:xfrm>
            <a:off x="4837176" y="2441448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51,791</a:t>
            </a:r>
            <a:endParaRPr lang="en-US" sz="1630" dirty="0"/>
          </a:p>
        </p:txBody>
      </p:sp>
      <p:sp>
        <p:nvSpPr>
          <p:cNvPr id="17" name="Text 15"/>
          <p:cNvSpPr/>
          <p:nvPr/>
        </p:nvSpPr>
        <p:spPr>
          <a:xfrm>
            <a:off x="7040880" y="244144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60,023</a:t>
            </a:r>
            <a:endParaRPr lang="en-US" sz="1630" dirty="0"/>
          </a:p>
        </p:txBody>
      </p:sp>
      <p:sp>
        <p:nvSpPr>
          <p:cNvPr id="18" name="Text 16"/>
          <p:cNvSpPr/>
          <p:nvPr/>
        </p:nvSpPr>
        <p:spPr>
          <a:xfrm>
            <a:off x="9208008" y="2441448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3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+8,232</a:t>
            </a:r>
            <a:endParaRPr lang="en-US" sz="1630" dirty="0"/>
          </a:p>
        </p:txBody>
      </p:sp>
      <p:sp>
        <p:nvSpPr>
          <p:cNvPr id="19" name="Shape 17"/>
          <p:cNvSpPr/>
          <p:nvPr/>
        </p:nvSpPr>
        <p:spPr>
          <a:xfrm>
            <a:off x="822960" y="2999232"/>
            <a:ext cx="10479024" cy="539496"/>
          </a:xfrm>
          <a:prstGeom prst="roundRect">
            <a:avLst>
              <a:gd name="adj" fmla="val 11864"/>
            </a:avLst>
          </a:prstGeom>
          <a:solidFill>
            <a:srgbClr val="F9E9E0"/>
          </a:solidFill>
          <a:ln w="12700">
            <a:solidFill>
              <a:srgbClr val="F9E9E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063240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西城两居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136392" y="30632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83.23 ㎡</a:t>
            </a:r>
            <a:endParaRPr lang="en-US" sz="1630" dirty="0"/>
          </a:p>
        </p:txBody>
      </p:sp>
      <p:sp>
        <p:nvSpPr>
          <p:cNvPr id="22" name="Text 20"/>
          <p:cNvSpPr/>
          <p:nvPr/>
        </p:nvSpPr>
        <p:spPr>
          <a:xfrm>
            <a:off x="4837176" y="306324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114,983</a:t>
            </a:r>
            <a:endParaRPr lang="en-US" sz="1630" dirty="0"/>
          </a:p>
        </p:txBody>
      </p:sp>
      <p:sp>
        <p:nvSpPr>
          <p:cNvPr id="23" name="Text 21"/>
          <p:cNvSpPr/>
          <p:nvPr/>
        </p:nvSpPr>
        <p:spPr>
          <a:xfrm>
            <a:off x="7040880" y="30632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106,868</a:t>
            </a:r>
            <a:endParaRPr lang="en-US" sz="1630" dirty="0"/>
          </a:p>
        </p:txBody>
      </p:sp>
      <p:sp>
        <p:nvSpPr>
          <p:cNvPr id="24" name="Text 22"/>
          <p:cNvSpPr/>
          <p:nvPr/>
        </p:nvSpPr>
        <p:spPr>
          <a:xfrm>
            <a:off x="9208008" y="30632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30" b="1" dirty="0">
                <a:solidFill>
                  <a:srgbClr val="DB6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−8,115</a:t>
            </a:r>
            <a:endParaRPr lang="en-US" sz="1630" dirty="0"/>
          </a:p>
        </p:txBody>
      </p:sp>
      <p:sp>
        <p:nvSpPr>
          <p:cNvPr id="25" name="Text 23"/>
          <p:cNvSpPr/>
          <p:nvPr/>
        </p:nvSpPr>
        <p:spPr>
          <a:xfrm>
            <a:off x="914400" y="3685032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房山两居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136392" y="36850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85.00 ㎡</a:t>
            </a:r>
            <a:endParaRPr lang="en-US" sz="1630" dirty="0"/>
          </a:p>
        </p:txBody>
      </p:sp>
      <p:sp>
        <p:nvSpPr>
          <p:cNvPr id="27" name="Text 25"/>
          <p:cNvSpPr/>
          <p:nvPr/>
        </p:nvSpPr>
        <p:spPr>
          <a:xfrm>
            <a:off x="4837176" y="3685032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44,471</a:t>
            </a:r>
            <a:endParaRPr lang="en-US" sz="1630" dirty="0"/>
          </a:p>
        </p:txBody>
      </p:sp>
      <p:sp>
        <p:nvSpPr>
          <p:cNvPr id="28" name="Text 26"/>
          <p:cNvSpPr/>
          <p:nvPr/>
        </p:nvSpPr>
        <p:spPr>
          <a:xfrm>
            <a:off x="7040880" y="368503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30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44,429</a:t>
            </a:r>
            <a:endParaRPr lang="en-US" sz="1630" dirty="0"/>
          </a:p>
        </p:txBody>
      </p:sp>
      <p:sp>
        <p:nvSpPr>
          <p:cNvPr id="29" name="Text 27"/>
          <p:cNvSpPr/>
          <p:nvPr/>
        </p:nvSpPr>
        <p:spPr>
          <a:xfrm>
            <a:off x="9208008" y="3685032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30" b="1" dirty="0">
                <a:solidFill>
                  <a:srgbClr val="2133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−42</a:t>
            </a:r>
            <a:endParaRPr lang="en-US" sz="1630" dirty="0"/>
          </a:p>
        </p:txBody>
      </p:sp>
      <p:sp>
        <p:nvSpPr>
          <p:cNvPr id="30" name="Text 28"/>
          <p:cNvSpPr/>
          <p:nvPr/>
        </p:nvSpPr>
        <p:spPr>
          <a:xfrm>
            <a:off x="914400" y="42611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单位：元/㎡；误差 = 预测 − 真实。三条均来自固定测试集，仅作示例。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621792" y="4754880"/>
            <a:ext cx="10954512" cy="1234440"/>
          </a:xfrm>
          <a:prstGeom prst="roundRect">
            <a:avLst>
              <a:gd name="adj" fmla="val 8889"/>
            </a:avLst>
          </a:prstGeom>
          <a:solidFill>
            <a:srgbClr val="DCECF5"/>
          </a:solidFill>
          <a:ln w="12700">
            <a:solidFill>
              <a:srgbClr val="DCECF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4992624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30" b="1" dirty="0">
                <a:solidFill>
                  <a:srgbClr val="193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演示路径</a:t>
            </a:r>
            <a:endParaRPr lang="en-US" sz="1830" dirty="0"/>
          </a:p>
        </p:txBody>
      </p:sp>
      <p:sp>
        <p:nvSpPr>
          <p:cNvPr id="33" name="Text 31"/>
          <p:cNvSpPr/>
          <p:nvPr/>
        </p:nvSpPr>
        <p:spPr>
          <a:xfrm>
            <a:off x="2221992" y="4965192"/>
            <a:ext cx="8988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60" b="1" dirty="0">
                <a:solidFill>
                  <a:srgbClr val="1931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朝阳 → 西城 → 房山 → 将房山区县改成朝阳并重新预测</a:t>
            </a:r>
            <a:endParaRPr lang="en-US" sz="1760" dirty="0"/>
          </a:p>
        </p:txBody>
      </p:sp>
      <p:sp>
        <p:nvSpPr>
          <p:cNvPr id="34" name="Text 32"/>
          <p:cNvSpPr/>
          <p:nvPr/>
        </p:nvSpPr>
        <p:spPr>
          <a:xfrm>
            <a:off x="896112" y="5559552"/>
            <a:ext cx="10003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网页输入  →  本机 Python API  →  决策树 Pipeline  →  图形化结果</a:t>
            </a:r>
            <a:endParaRPr lang="en-US" sz="1330" dirty="0"/>
          </a:p>
        </p:txBody>
      </p:sp>
      <p:sp>
        <p:nvSpPr>
          <p:cNvPr id="35" name="Text 33"/>
          <p:cNvSpPr/>
          <p:nvPr/>
        </p:nvSpPr>
        <p:spPr>
          <a:xfrm>
            <a:off x="640080" y="6062472"/>
            <a:ext cx="10872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65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修改输入后不存在对应的真实成交价，只能观察模型输出如何变化。</a:t>
            </a:r>
            <a:endParaRPr lang="en-US" sz="12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3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" y="557784"/>
            <a:ext cx="10853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结论与下一步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94944" y="1280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DA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三种模型中，决策树在这份数据上表现最好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2084832"/>
            <a:ext cx="5102352" cy="1563624"/>
          </a:xfrm>
          <a:prstGeom prst="roundRect">
            <a:avLst>
              <a:gd name="adj" fmla="val 7018"/>
            </a:avLst>
          </a:prstGeom>
          <a:solidFill>
            <a:srgbClr val="24445D"/>
          </a:solidFill>
          <a:ln w="12700">
            <a:solidFill>
              <a:srgbClr val="24445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2377440"/>
            <a:ext cx="4498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0.720</a:t>
            </a:r>
            <a:endParaRPr lang="en-US" sz="4300" dirty="0"/>
          </a:p>
        </p:txBody>
      </p:sp>
      <p:sp>
        <p:nvSpPr>
          <p:cNvPr id="6" name="Text 4"/>
          <p:cNvSpPr/>
          <p:nvPr/>
        </p:nvSpPr>
        <p:spPr>
          <a:xfrm>
            <a:off x="978408" y="3108960"/>
            <a:ext cx="4251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A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 R²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62472" y="2084832"/>
            <a:ext cx="5440680" cy="1563624"/>
          </a:xfrm>
          <a:prstGeom prst="roundRect">
            <a:avLst>
              <a:gd name="adj" fmla="val 7018"/>
            </a:avLst>
          </a:prstGeom>
          <a:solidFill>
            <a:srgbClr val="24445D"/>
          </a:solidFill>
          <a:ln w="12700">
            <a:solidFill>
              <a:srgbClr val="24445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73368" y="2377440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3BA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9,462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6382512" y="3108960"/>
            <a:ext cx="4480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A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 MAE · 元/㎡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" y="4105656"/>
            <a:ext cx="96834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解释结果时要保留的边界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40664" y="468172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97AB7"/>
          </a:solidFill>
          <a:ln w="12700">
            <a:solidFill>
              <a:srgbClr val="297AB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461772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E0E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数据为 2017 年成交记录，不能作为今天的报价</a:t>
            </a:r>
            <a:endParaRPr lang="en-US" sz="1720" dirty="0"/>
          </a:p>
        </p:txBody>
      </p:sp>
      <p:sp>
        <p:nvSpPr>
          <p:cNvPr id="13" name="Shape 11"/>
          <p:cNvSpPr/>
          <p:nvPr/>
        </p:nvSpPr>
        <p:spPr>
          <a:xfrm>
            <a:off x="740664" y="5120640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B6C43"/>
          </a:solidFill>
          <a:ln w="12700">
            <a:solidFill>
              <a:srgbClr val="DB6C4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5056632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E0E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高价房误差更大，平均预测单价偏低</a:t>
            </a:r>
            <a:endParaRPr lang="en-US" sz="1720" dirty="0"/>
          </a:p>
        </p:txBody>
      </p:sp>
      <p:sp>
        <p:nvSpPr>
          <p:cNvPr id="15" name="Shape 13"/>
          <p:cNvSpPr/>
          <p:nvPr/>
        </p:nvSpPr>
        <p:spPr>
          <a:xfrm>
            <a:off x="740664" y="555955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97AB7"/>
          </a:solidFill>
          <a:ln w="12700">
            <a:solidFill>
              <a:srgbClr val="297AB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5495544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dirty="0">
                <a:solidFill>
                  <a:srgbClr val="E0EA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随机划分可能偏乐观；后续应按小区或区域评估</a:t>
            </a:r>
            <a:endParaRPr lang="en-US" sz="1720" dirty="0"/>
          </a:p>
        </p:txBody>
      </p:sp>
      <p:sp>
        <p:nvSpPr>
          <p:cNvPr id="17" name="Text 15"/>
          <p:cNvSpPr/>
          <p:nvPr/>
        </p:nvSpPr>
        <p:spPr>
          <a:xfrm>
            <a:off x="9198864" y="642823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A9C0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北京二手房单价预测｜课堂汇报</dc:title>
  <dc:subject>2017 年北京二手房成交单价预测</dc:subject>
  <dc:creator>北京二手房单价预测综合实验</dc:creator>
  <cp:lastModifiedBy>北京二手房单价预测综合实验</cp:lastModifiedBy>
  <cp:revision>1</cp:revision>
  <dcterms:created xsi:type="dcterms:W3CDTF">2026-09-27T10:19:13Z</dcterms:created>
  <dcterms:modified xsi:type="dcterms:W3CDTF">2026-09-27T10:19:13Z</dcterms:modified>
</cp:coreProperties>
</file>